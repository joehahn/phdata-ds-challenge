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 snapToObjects="1">
      <p:cViewPr varScale="1">
        <p:scale>
          <a:sx n="99" d="100"/>
          <a:sy n="99" d="100"/>
        </p:scale>
        <p:origin x="184" y="3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084831"/>
            <a:ext cx="1463040" cy="64008"/>
          </a:xfrm>
          <a:prstGeom prst="rect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9483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4200" b="1">
                <a:solidFill>
                  <a:srgbClr val="FFFFFF"/>
                </a:solidFill>
                <a:latin typeface="Calibri"/>
              </a:rPr>
              <a:t>U</a:t>
            </a:r>
            <a:r>
              <a:rPr sz="4200" b="1">
                <a:solidFill>
                  <a:srgbClr val="FFFFFF"/>
                </a:solidFill>
                <a:latin typeface="Calibri"/>
              </a:rPr>
              <a:t>sing ML to </a:t>
            </a:r>
            <a:r>
              <a:rPr lang="en-US" sz="4200" b="1">
                <a:solidFill>
                  <a:srgbClr val="FFFFFF"/>
                </a:solidFill>
                <a:latin typeface="Calibri"/>
              </a:rPr>
              <a:t>f</a:t>
            </a:r>
            <a:r>
              <a:rPr sz="4200" b="1">
                <a:solidFill>
                  <a:srgbClr val="FFFFFF"/>
                </a:solidFill>
                <a:latin typeface="Calibri"/>
              </a:rPr>
              <a:t>ind the customers worth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10128"/>
            <a:ext cx="105156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100">
                <a:solidFill>
                  <a:srgbClr val="BFD9EA"/>
                </a:solidFill>
                <a:latin typeface="Calibri"/>
              </a:rPr>
              <a:t>Results from an ML</a:t>
            </a:r>
            <a:r>
              <a:rPr sz="2100" b="0">
                <a:solidFill>
                  <a:srgbClr val="BFD9EA"/>
                </a:solidFill>
                <a:latin typeface="Calibri"/>
              </a:rPr>
              <a:t> pilot on </a:t>
            </a:r>
            <a:r>
              <a:rPr lang="en-US" sz="2100">
                <a:solidFill>
                  <a:srgbClr val="BFD9EA"/>
                </a:solidFill>
                <a:latin typeface="Calibri"/>
              </a:rPr>
              <a:t>2 </a:t>
            </a:r>
            <a:r>
              <a:rPr sz="2100" b="0">
                <a:solidFill>
                  <a:srgbClr val="BFD9EA"/>
                </a:solidFill>
                <a:latin typeface="Calibri"/>
              </a:rPr>
              <a:t>years of </a:t>
            </a:r>
            <a:r>
              <a:rPr lang="en-US" sz="2100" b="0">
                <a:solidFill>
                  <a:srgbClr val="BFD9EA"/>
                </a:solidFill>
                <a:latin typeface="Calibri"/>
              </a:rPr>
              <a:t>sales </a:t>
            </a:r>
            <a:r>
              <a:rPr sz="2100" b="0">
                <a:solidFill>
                  <a:srgbClr val="BFD9EA"/>
                </a:solidFill>
                <a:latin typeface="Calibri"/>
              </a:rPr>
              <a:t>campaign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17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D8E7F1"/>
                </a:solidFill>
                <a:latin typeface="Calibri"/>
              </a:rPr>
              <a:t>Joe Hahn  ·  ML Solutions Architect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D8E7F1"/>
                </a:solidFill>
                <a:latin typeface="Calibri"/>
              </a:rPr>
              <a:t>phData ML team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D8E7F1"/>
                </a:solidFill>
                <a:latin typeface="Calibri"/>
              </a:rPr>
              <a:t>jmh.datasciences@gmail.com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D8E7F1"/>
                </a:solidFill>
                <a:latin typeface="Calibri"/>
              </a:rPr>
              <a:t>11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3A5C"/>
                </a:solidFill>
                <a:latin typeface="Calibri"/>
              </a:rPr>
              <a:t>what this pilot is</a:t>
            </a:r>
            <a:r>
              <a:rPr lang="en-US" sz="3000" b="1">
                <a:solidFill>
                  <a:srgbClr val="103A5C"/>
                </a:solidFill>
                <a:latin typeface="Calibri"/>
              </a:rPr>
              <a:t> about</a:t>
            </a:r>
            <a:endParaRPr sz="3000" b="1">
              <a:solidFill>
                <a:srgbClr val="103A5C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828800" cy="50292"/>
          </a:xfrm>
          <a:prstGeom prst="rect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1088136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 b="0">
                <a:solidFill>
                  <a:srgbClr val="333F48"/>
                </a:solidFill>
                <a:latin typeface="Calibri"/>
              </a:rPr>
              <a:t>— inputs: two years of sales-campaign data (41K records) tracking which customers bought </a:t>
            </a:r>
            <a:r>
              <a:rPr lang="en-US" sz="1900" b="0">
                <a:solidFill>
                  <a:srgbClr val="333F48"/>
                </a:solidFill>
                <a:latin typeface="Calibri"/>
              </a:rPr>
              <a:t>the </a:t>
            </a:r>
            <a:r>
              <a:rPr sz="1900" b="0">
                <a:solidFill>
                  <a:srgbClr val="333F48"/>
                </a:solidFill>
                <a:latin typeface="Calibri"/>
              </a:rPr>
              <a:t>product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333F48"/>
                </a:solidFill>
                <a:latin typeface="Calibri"/>
              </a:rPr>
              <a:t>— train</a:t>
            </a:r>
            <a:r>
              <a:rPr lang="en-US" sz="1900" b="0">
                <a:solidFill>
                  <a:srgbClr val="333F48"/>
                </a:solidFill>
                <a:latin typeface="Calibri"/>
              </a:rPr>
              <a:t>ing</a:t>
            </a:r>
            <a:r>
              <a:rPr sz="1900" b="0">
                <a:solidFill>
                  <a:srgbClr val="333F48"/>
                </a:solidFill>
                <a:latin typeface="Calibri"/>
              </a:rPr>
              <a:t> an ML model on that data to predict </a:t>
            </a:r>
            <a:r>
              <a:rPr lang="en-US" sz="1900">
                <a:solidFill>
                  <a:srgbClr val="333F48"/>
                </a:solidFill>
                <a:latin typeface="Calibri"/>
              </a:rPr>
              <a:t>which customers</a:t>
            </a:r>
            <a:r>
              <a:rPr sz="1900" b="0">
                <a:solidFill>
                  <a:srgbClr val="333F48"/>
                </a:solidFill>
                <a:latin typeface="Calibri"/>
              </a:rPr>
              <a:t> </a:t>
            </a:r>
            <a:r>
              <a:rPr lang="en-US" sz="1900" b="0">
                <a:solidFill>
                  <a:srgbClr val="333F48"/>
                </a:solidFill>
                <a:latin typeface="Calibri"/>
              </a:rPr>
              <a:t>are</a:t>
            </a:r>
            <a:r>
              <a:rPr sz="1900" b="0">
                <a:solidFill>
                  <a:srgbClr val="333F48"/>
                </a:solidFill>
                <a:latin typeface="Calibri"/>
              </a:rPr>
              <a:t> likely to buy, </a:t>
            </a:r>
            <a:r>
              <a:rPr lang="en-US" sz="1900">
                <a:solidFill>
                  <a:srgbClr val="333F48"/>
                </a:solidFill>
                <a:latin typeface="Calibri"/>
              </a:rPr>
              <a:t>prior to</a:t>
            </a:r>
            <a:r>
              <a:rPr sz="1900" b="0">
                <a:solidFill>
                  <a:srgbClr val="333F48"/>
                </a:solidFill>
                <a:latin typeface="Calibri"/>
              </a:rPr>
              <a:t> any sales outreach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333F48"/>
                </a:solidFill>
                <a:latin typeface="Calibri"/>
              </a:rPr>
              <a:t>— goal: </a:t>
            </a:r>
            <a:r>
              <a:rPr lang="en-US" sz="1900" b="0">
                <a:solidFill>
                  <a:srgbClr val="333F48"/>
                </a:solidFill>
                <a:latin typeface="Calibri"/>
              </a:rPr>
              <a:t>show how to </a:t>
            </a:r>
            <a:r>
              <a:rPr lang="en-US" sz="1900">
                <a:solidFill>
                  <a:srgbClr val="333F48"/>
                </a:solidFill>
                <a:latin typeface="Calibri"/>
              </a:rPr>
              <a:t>use ML to </a:t>
            </a:r>
            <a:r>
              <a:rPr sz="1900" b="0">
                <a:solidFill>
                  <a:srgbClr val="333F48"/>
                </a:solidFill>
                <a:latin typeface="Calibri"/>
              </a:rPr>
              <a:t>target customers most likely to buy,</a:t>
            </a:r>
            <a:r>
              <a:rPr lang="en-US" sz="1900" b="0">
                <a:solidFill>
                  <a:srgbClr val="333F48"/>
                </a:solidFill>
                <a:latin typeface="Calibri"/>
              </a:rPr>
              <a:t> &amp;</a:t>
            </a:r>
            <a:r>
              <a:rPr lang="en-US" sz="1900">
                <a:solidFill>
                  <a:srgbClr val="333F48"/>
                </a:solidFill>
                <a:latin typeface="Calibri"/>
              </a:rPr>
              <a:t> boost</a:t>
            </a:r>
            <a:r>
              <a:rPr sz="1900" b="0">
                <a:solidFill>
                  <a:srgbClr val="333F48"/>
                </a:solidFill>
                <a:latin typeface="Calibri"/>
              </a:rPr>
              <a:t> </a:t>
            </a:r>
            <a:r>
              <a:rPr lang="en-US" sz="1900">
                <a:solidFill>
                  <a:srgbClr val="333F48"/>
                </a:solidFill>
                <a:latin typeface="Calibri"/>
              </a:rPr>
              <a:t>sales</a:t>
            </a:r>
            <a:endParaRPr sz="1900" b="0">
              <a:solidFill>
                <a:srgbClr val="333F4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35711" y="470916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103A5C"/>
                </a:solidFill>
                <a:latin typeface="Calibri"/>
              </a:rPr>
              <a:t>two years of</a:t>
            </a:r>
          </a:p>
          <a:p>
            <a:pPr algn="ctr"/>
            <a:r>
              <a:rPr sz="1300">
                <a:solidFill>
                  <a:srgbClr val="103A5C"/>
                </a:solidFill>
                <a:latin typeface="Calibri"/>
              </a:rPr>
              <a:t>sales history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85719" y="5065776"/>
            <a:ext cx="566928" cy="256032"/>
          </a:xfrm>
          <a:prstGeom prst="rightArrow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62375" y="4709160"/>
            <a:ext cx="2240280" cy="960120"/>
          </a:xfrm>
          <a:prstGeom prst="roundRect">
            <a:avLst/>
          </a:prstGeom>
          <a:solidFill>
            <a:srgbClr val="1BA0DC"/>
          </a:solidFill>
          <a:ln w="12700">
            <a:solidFill>
              <a:srgbClr val="10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model learns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who buys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12383" y="5065776"/>
            <a:ext cx="566928" cy="256032"/>
          </a:xfrm>
          <a:prstGeom prst="rightArrow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89039" y="4709160"/>
            <a:ext cx="2240280" cy="960120"/>
          </a:xfrm>
          <a:prstGeom prst="roundRect">
            <a:avLst/>
          </a:prstGeom>
          <a:solidFill>
            <a:srgbClr val="103A5C"/>
          </a:solidFill>
          <a:ln w="12700">
            <a:solidFill>
              <a:srgbClr val="10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ranked list of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who to call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9047" y="5065776"/>
            <a:ext cx="566928" cy="256032"/>
          </a:xfrm>
          <a:prstGeom prst="rightArrow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15703" y="4709160"/>
            <a:ext cx="2240280" cy="960120"/>
          </a:xfrm>
          <a:prstGeom prst="roundRect">
            <a:avLst/>
          </a:prstGeom>
          <a:solidFill>
            <a:srgbClr val="1BA0DC"/>
          </a:solidFill>
          <a:ln w="12700">
            <a:solidFill>
              <a:srgbClr val="10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sales team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closes more sales</a:t>
            </a:r>
            <a:r>
              <a:rPr lang="en-US" sz="1300">
                <a:solidFill>
                  <a:srgbClr val="FFFFFF"/>
                </a:solidFill>
                <a:latin typeface="Calibri"/>
              </a:rPr>
              <a:t>,</a:t>
            </a:r>
            <a:br>
              <a:rPr lang="en-US" sz="1300">
                <a:solidFill>
                  <a:srgbClr val="FFFFFF"/>
                </a:solidFill>
                <a:latin typeface="Calibri"/>
              </a:rPr>
            </a:br>
            <a:r>
              <a:rPr lang="en-US" sz="1300">
                <a:solidFill>
                  <a:srgbClr val="FFFFFF"/>
                </a:solidFill>
                <a:latin typeface="Calibri"/>
              </a:rPr>
              <a:t>faster</a:t>
            </a:r>
            <a:endParaRPr sz="1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70448"/>
            <a:ext cx="11064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500">
                <a:solidFill>
                  <a:srgbClr val="333F48"/>
                </a:solidFill>
                <a:latin typeface="Calibri"/>
              </a:rPr>
              <a:t>Use ML to direct the sales</a:t>
            </a:r>
            <a:r>
              <a:rPr sz="1500" b="0">
                <a:solidFill>
                  <a:srgbClr val="333F48"/>
                </a:solidFill>
                <a:latin typeface="Calibri"/>
              </a:rPr>
              <a:t> budget</a:t>
            </a:r>
            <a:r>
              <a:rPr lang="en-US" sz="1500" b="0">
                <a:solidFill>
                  <a:srgbClr val="333F48"/>
                </a:solidFill>
                <a:latin typeface="Calibri"/>
              </a:rPr>
              <a:t> &amp; effort</a:t>
            </a:r>
            <a:r>
              <a:rPr lang="en-US" sz="1500">
                <a:solidFill>
                  <a:srgbClr val="333F48"/>
                </a:solidFill>
                <a:latin typeface="Calibri"/>
              </a:rPr>
              <a:t> </a:t>
            </a:r>
            <a:r>
              <a:rPr sz="1500" b="0">
                <a:solidFill>
                  <a:srgbClr val="333F48"/>
                </a:solidFill>
                <a:latin typeface="Calibri"/>
              </a:rPr>
              <a:t>at t</a:t>
            </a:r>
            <a:r>
              <a:rPr lang="en-US" sz="1500" b="0">
                <a:solidFill>
                  <a:srgbClr val="333F48"/>
                </a:solidFill>
                <a:latin typeface="Calibri"/>
              </a:rPr>
              <a:t>hose</a:t>
            </a:r>
            <a:r>
              <a:rPr sz="1500" b="0">
                <a:solidFill>
                  <a:srgbClr val="333F48"/>
                </a:solidFill>
                <a:latin typeface="Calibri"/>
              </a:rPr>
              <a:t> customers mo</a:t>
            </a:r>
            <a:r>
              <a:rPr lang="en-US" sz="1500" b="0">
                <a:solidFill>
                  <a:srgbClr val="333F48"/>
                </a:solidFill>
                <a:latin typeface="Calibri"/>
              </a:rPr>
              <a:t>re</a:t>
            </a:r>
            <a:r>
              <a:rPr sz="1500" b="0">
                <a:solidFill>
                  <a:srgbClr val="333F48"/>
                </a:solidFill>
                <a:latin typeface="Calibri"/>
              </a:rPr>
              <a:t> likely to say yes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3A5C"/>
                </a:solidFill>
                <a:latin typeface="Calibri"/>
              </a:rPr>
              <a:t>the </a:t>
            </a:r>
            <a:r>
              <a:rPr lang="en-US" sz="3000" b="1">
                <a:solidFill>
                  <a:srgbClr val="103A5C"/>
                </a:solidFill>
                <a:latin typeface="Calibri"/>
              </a:rPr>
              <a:t>input </a:t>
            </a:r>
            <a:r>
              <a:rPr sz="3000" b="1">
                <a:solidFill>
                  <a:srgbClr val="103A5C"/>
                </a:solidFill>
                <a:latin typeface="Calibri"/>
              </a:rPr>
              <a:t>data</a:t>
            </a:r>
            <a:r>
              <a:rPr lang="en-US" sz="3000" b="1">
                <a:solidFill>
                  <a:srgbClr val="103A5C"/>
                </a:solidFill>
                <a:latin typeface="Calibri"/>
              </a:rPr>
              <a:t>:</a:t>
            </a:r>
            <a:endParaRPr sz="3000" b="1">
              <a:solidFill>
                <a:srgbClr val="103A5C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828800" cy="50292"/>
          </a:xfrm>
          <a:prstGeom prst="rect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10881360" cy="3824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1800" b="0">
                <a:solidFill>
                  <a:srgbClr val="333F48"/>
                </a:solidFill>
                <a:latin typeface="Calibri"/>
              </a:rPr>
              <a:t>—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 csv file having several</a:t>
            </a:r>
            <a:r>
              <a:rPr sz="1800" b="0">
                <a:solidFill>
                  <a:srgbClr val="333F48"/>
                </a:solidFill>
                <a:latin typeface="Calibri"/>
              </a:rPr>
              <a:t> columns </a:t>
            </a:r>
            <a:r>
              <a:rPr lang="en-US">
                <a:solidFill>
                  <a:srgbClr val="333F48"/>
                </a:solidFill>
                <a:latin typeface="Calibri"/>
              </a:rPr>
              <a:t>with obfuscated</a:t>
            </a:r>
            <a:r>
              <a:rPr sz="1800" b="0">
                <a:solidFill>
                  <a:srgbClr val="333F48"/>
                </a:solidFill>
                <a:latin typeface="Calibri"/>
              </a:rPr>
              <a:t> names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 (</a:t>
            </a:r>
            <a:r>
              <a:rPr sz="1800" b="0">
                <a:solidFill>
                  <a:srgbClr val="333F48"/>
                </a:solidFill>
                <a:latin typeface="Calibri"/>
              </a:rPr>
              <a:t>b1, c8, i4,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 etc),</a:t>
            </a:r>
            <a:r>
              <a:rPr sz="1800" b="0">
                <a:solidFill>
                  <a:srgbClr val="333F48"/>
                </a:solidFill>
                <a:latin typeface="Calibri"/>
              </a:rPr>
              <a:t> and no data dictionary</a:t>
            </a:r>
          </a:p>
          <a:p>
            <a:pPr algn="l">
              <a:spcAft>
                <a:spcPts val="1500"/>
              </a:spcAft>
            </a:pPr>
            <a:r>
              <a:rPr sz="1800" b="0">
                <a:solidFill>
                  <a:srgbClr val="333F48"/>
                </a:solidFill>
                <a:latin typeface="Calibri"/>
              </a:rPr>
              <a:t>— AI coding assistant recognised the dataset, and we inferred the column 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names from the data </a:t>
            </a:r>
            <a:r>
              <a:rPr sz="1800" b="0">
                <a:solidFill>
                  <a:srgbClr val="333F48"/>
                </a:solidFill>
                <a:latin typeface="Calibri"/>
              </a:rPr>
              <a:t>be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haviors</a:t>
            </a:r>
            <a:r>
              <a:rPr sz="1800" b="0">
                <a:solidFill>
                  <a:srgbClr val="333F48"/>
                </a:solidFill>
                <a:latin typeface="Calibri"/>
              </a:rPr>
              <a:t>, </a:t>
            </a:r>
            <a:br>
              <a:rPr lang="en-US" sz="1800" b="0">
                <a:solidFill>
                  <a:srgbClr val="333F48"/>
                </a:solidFill>
                <a:latin typeface="Calibri"/>
              </a:rPr>
            </a:br>
            <a:r>
              <a:rPr lang="en-US" sz="1800" b="0">
                <a:solidFill>
                  <a:srgbClr val="333F48"/>
                </a:solidFill>
                <a:latin typeface="Calibri"/>
              </a:rPr>
              <a:t>        </a:t>
            </a:r>
            <a:r>
              <a:rPr sz="1800" b="0">
                <a:solidFill>
                  <a:srgbClr val="333F48"/>
                </a:solidFill>
                <a:latin typeface="Calibri"/>
              </a:rPr>
              <a:t>so we 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also </a:t>
            </a:r>
            <a:r>
              <a:rPr sz="1800" b="0">
                <a:solidFill>
                  <a:srgbClr val="333F48"/>
                </a:solidFill>
                <a:latin typeface="Calibri"/>
              </a:rPr>
              <a:t>report 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results vs </a:t>
            </a:r>
            <a:r>
              <a:rPr sz="1800" b="0">
                <a:solidFill>
                  <a:srgbClr val="333F48"/>
                </a:solidFill>
                <a:latin typeface="Calibri"/>
              </a:rPr>
              <a:t>inferred names </a:t>
            </a:r>
            <a:r>
              <a:rPr lang="en-US">
                <a:solidFill>
                  <a:srgbClr val="333F48"/>
                </a:solidFill>
                <a:latin typeface="Calibri"/>
              </a:rPr>
              <a:t>that are </a:t>
            </a:r>
            <a:r>
              <a:rPr sz="1800" b="0">
                <a:solidFill>
                  <a:srgbClr val="333F48"/>
                </a:solidFill>
                <a:latin typeface="Calibri"/>
              </a:rPr>
              <a:t>mark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ed</a:t>
            </a:r>
            <a:r>
              <a:rPr sz="1800" b="0">
                <a:solidFill>
                  <a:srgbClr val="333F48"/>
                </a:solidFill>
                <a:latin typeface="Calibri"/>
              </a:rPr>
              <a:t> with *</a:t>
            </a:r>
          </a:p>
          <a:p>
            <a:pPr algn="l">
              <a:spcAft>
                <a:spcPts val="1500"/>
              </a:spcAft>
            </a:pPr>
            <a:r>
              <a:rPr sz="1800" b="0">
                <a:solidFill>
                  <a:srgbClr val="333F48"/>
                </a:solidFill>
                <a:latin typeface="Calibri"/>
              </a:rPr>
              <a:t>— one column 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c10 </a:t>
            </a:r>
            <a:r>
              <a:rPr sz="1800" b="0">
                <a:solidFill>
                  <a:srgbClr val="333F48"/>
                </a:solidFill>
                <a:latin typeface="Calibri"/>
              </a:rPr>
              <a:t>was a </a:t>
            </a:r>
            <a:r>
              <a:rPr lang="en-US">
                <a:solidFill>
                  <a:srgbClr val="333F48"/>
                </a:solidFill>
                <a:latin typeface="Calibri"/>
              </a:rPr>
              <a:t>copy of the target,</a:t>
            </a:r>
            <a:br>
              <a:rPr lang="en-US" sz="1800" b="0">
                <a:solidFill>
                  <a:srgbClr val="333F48"/>
                </a:solidFill>
                <a:latin typeface="Calibri"/>
              </a:rPr>
            </a:br>
            <a:r>
              <a:rPr lang="en-US" sz="1800" b="0">
                <a:solidFill>
                  <a:srgbClr val="333F48"/>
                </a:solidFill>
                <a:latin typeface="Calibri"/>
              </a:rPr>
              <a:t>         which </a:t>
            </a:r>
            <a:r>
              <a:rPr sz="1800" b="0">
                <a:solidFill>
                  <a:srgbClr val="333F48"/>
                </a:solidFill>
                <a:latin typeface="Calibri"/>
              </a:rPr>
              <a:t>we dropped</a:t>
            </a:r>
            <a:r>
              <a:rPr lang="en-US">
                <a:solidFill>
                  <a:srgbClr val="333F48"/>
                </a:solidFill>
                <a:latin typeface="Calibri"/>
              </a:rPr>
              <a:t> 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since a model trained on c10 won’t predict anything</a:t>
            </a:r>
            <a:endParaRPr sz="1800" b="0">
              <a:solidFill>
                <a:srgbClr val="333F48"/>
              </a:solidFill>
              <a:latin typeface="Calibri"/>
            </a:endParaRPr>
          </a:p>
          <a:p>
            <a:pPr algn="l">
              <a:spcAft>
                <a:spcPts val="1500"/>
              </a:spcAft>
            </a:pPr>
            <a:r>
              <a:rPr sz="1800" b="0">
                <a:solidFill>
                  <a:srgbClr val="333F48"/>
                </a:solidFill>
                <a:latin typeface="Calibri"/>
              </a:rPr>
              <a:t>— two columns </a:t>
            </a:r>
            <a:r>
              <a:rPr lang="en-US">
                <a:solidFill>
                  <a:srgbClr val="333F48"/>
                </a:solidFill>
                <a:latin typeface="Calibri"/>
              </a:rPr>
              <a:t>appear to contain</a:t>
            </a:r>
            <a:r>
              <a:rPr sz="1800" b="0">
                <a:solidFill>
                  <a:srgbClr val="333F48"/>
                </a:solidFill>
                <a:latin typeface="Calibri"/>
              </a:rPr>
              <a:t> random </a:t>
            </a:r>
            <a:r>
              <a:rPr lang="en-US">
                <a:solidFill>
                  <a:srgbClr val="333F48"/>
                </a:solidFill>
                <a:latin typeface="Calibri"/>
              </a:rPr>
              <a:t>values, 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kept</a:t>
            </a:r>
          </a:p>
          <a:p>
            <a:pPr algn="l">
              <a:spcAft>
                <a:spcPts val="1500"/>
              </a:spcAft>
            </a:pPr>
            <a:r>
              <a:rPr sz="1800" b="0">
                <a:solidFill>
                  <a:srgbClr val="333F48"/>
                </a:solidFill>
                <a:latin typeface="Calibri"/>
              </a:rPr>
              <a:t>— missing values arrived written four different ways: </a:t>
            </a:r>
            <a:br>
              <a:rPr lang="en-US" sz="1800" b="0">
                <a:solidFill>
                  <a:srgbClr val="333F48"/>
                </a:solidFill>
                <a:latin typeface="Calibri"/>
              </a:rPr>
            </a:br>
            <a:r>
              <a:rPr lang="en-US" sz="1800" b="0">
                <a:solidFill>
                  <a:srgbClr val="333F48"/>
                </a:solidFill>
                <a:latin typeface="Calibri"/>
              </a:rPr>
              <a:t>         </a:t>
            </a:r>
            <a:r>
              <a:rPr sz="1800" b="0">
                <a:solidFill>
                  <a:srgbClr val="333F48"/>
                </a:solidFill>
                <a:latin typeface="Calibri"/>
              </a:rPr>
              <a:t>we standardised them to a </a:t>
            </a:r>
            <a:r>
              <a:rPr lang="en-US">
                <a:solidFill>
                  <a:srgbClr val="333F48"/>
                </a:solidFill>
                <a:latin typeface="Calibri"/>
              </a:rPr>
              <a:t>common</a:t>
            </a:r>
            <a:r>
              <a:rPr sz="1800" b="0">
                <a:solidFill>
                  <a:srgbClr val="333F48"/>
                </a:solidFill>
                <a:latin typeface="Calibri"/>
              </a:rPr>
              <a:t> flag, </a:t>
            </a:r>
            <a:br>
              <a:rPr lang="en-US" sz="1800" b="0">
                <a:solidFill>
                  <a:srgbClr val="333F48"/>
                </a:solidFill>
                <a:latin typeface="Calibri"/>
              </a:rPr>
            </a:br>
            <a:r>
              <a:rPr lang="en-US" sz="1800" b="0">
                <a:solidFill>
                  <a:srgbClr val="333F48"/>
                </a:solidFill>
                <a:latin typeface="Calibri"/>
              </a:rPr>
              <a:t>         </a:t>
            </a:r>
            <a:r>
              <a:rPr sz="1800" b="0">
                <a:solidFill>
                  <a:srgbClr val="333F48"/>
                </a:solidFill>
                <a:latin typeface="Calibri"/>
              </a:rPr>
              <a:t>so 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that </a:t>
            </a:r>
            <a:r>
              <a:rPr sz="1800" b="0">
                <a:solidFill>
                  <a:srgbClr val="333F48"/>
                </a:solidFill>
                <a:latin typeface="Calibri"/>
              </a:rPr>
              <a:t>the model 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can </a:t>
            </a:r>
            <a:r>
              <a:rPr sz="1800" b="0">
                <a:solidFill>
                  <a:srgbClr val="333F48"/>
                </a:solidFill>
                <a:latin typeface="Calibri"/>
              </a:rPr>
              <a:t>treat "not recorded" as </a:t>
            </a:r>
            <a:r>
              <a:rPr lang="en-US" sz="1800" b="0">
                <a:solidFill>
                  <a:srgbClr val="333F48"/>
                </a:solidFill>
                <a:latin typeface="Calibri"/>
              </a:rPr>
              <a:t>a possible signal</a:t>
            </a:r>
            <a:endParaRPr sz="1800" b="0">
              <a:solidFill>
                <a:srgbClr val="333F48"/>
              </a:solidFill>
              <a:latin typeface="Calibri"/>
            </a:endParaRPr>
          </a:p>
          <a:p>
            <a:pPr algn="l">
              <a:spcAft>
                <a:spcPts val="1500"/>
              </a:spcAft>
            </a:pPr>
            <a:r>
              <a:rPr sz="1800" b="0">
                <a:solidFill>
                  <a:srgbClr val="333F48"/>
                </a:solidFill>
                <a:latin typeface="Calibri"/>
              </a:rPr>
              <a:t>— dataset is otherwise sound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3439" y="310896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>
                <a:solidFill>
                  <a:srgbClr val="103A5C"/>
                </a:solidFill>
                <a:latin typeface="Calibri"/>
              </a:rPr>
              <a:t>Demographics: </a:t>
            </a:r>
            <a:r>
              <a:rPr sz="3000" b="1">
                <a:solidFill>
                  <a:srgbClr val="103A5C"/>
                </a:solidFill>
                <a:latin typeface="Calibri"/>
              </a:rPr>
              <a:t>who buys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828800" cy="50292"/>
          </a:xfrm>
          <a:prstGeom prst="rect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3760373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333F48"/>
                </a:solidFill>
                <a:latin typeface="Calibri"/>
              </a:rPr>
              <a:t>— a customer who bought before is</a:t>
            </a:r>
            <a:br>
              <a:rPr lang="en-US" b="0">
                <a:solidFill>
                  <a:srgbClr val="333F48"/>
                </a:solidFill>
                <a:latin typeface="Calibri"/>
              </a:rPr>
            </a:br>
            <a:r>
              <a:rPr lang="en-US" b="0">
                <a:solidFill>
                  <a:srgbClr val="333F48"/>
                </a:solidFill>
                <a:latin typeface="Calibri"/>
              </a:rPr>
              <a:t>    </a:t>
            </a:r>
            <a:r>
              <a:rPr b="0">
                <a:solidFill>
                  <a:srgbClr val="333F48"/>
                </a:solidFill>
                <a:latin typeface="Calibri"/>
              </a:rPr>
              <a:t> by far the best, </a:t>
            </a:r>
            <a:r>
              <a:rPr lang="en-US" b="0">
                <a:solidFill>
                  <a:srgbClr val="333F48"/>
                </a:solidFill>
                <a:latin typeface="Calibri"/>
              </a:rPr>
              <a:t> </a:t>
            </a:r>
            <a:r>
              <a:rPr b="0">
                <a:solidFill>
                  <a:srgbClr val="333F48"/>
                </a:solidFill>
                <a:latin typeface="Calibri"/>
              </a:rPr>
              <a:t>65% </a:t>
            </a:r>
            <a:r>
              <a:rPr lang="en-US">
                <a:solidFill>
                  <a:srgbClr val="333F48"/>
                </a:solidFill>
                <a:latin typeface="Calibri"/>
              </a:rPr>
              <a:t>vs</a:t>
            </a:r>
            <a:r>
              <a:rPr b="0">
                <a:solidFill>
                  <a:srgbClr val="333F48"/>
                </a:solidFill>
                <a:latin typeface="Calibri"/>
              </a:rPr>
              <a:t> 11% overall</a:t>
            </a:r>
            <a:br>
              <a:rPr lang="en-US" b="0">
                <a:solidFill>
                  <a:srgbClr val="333F48"/>
                </a:solidFill>
                <a:latin typeface="Calibri"/>
              </a:rPr>
            </a:br>
            <a:endParaRPr b="0">
              <a:solidFill>
                <a:srgbClr val="333F4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b="0">
                <a:solidFill>
                  <a:srgbClr val="333F48"/>
                </a:solidFill>
                <a:latin typeface="Calibri"/>
              </a:rPr>
              <a:t>— students and retirees </a:t>
            </a:r>
            <a:r>
              <a:rPr lang="en-US" b="0">
                <a:solidFill>
                  <a:srgbClr val="333F48"/>
                </a:solidFill>
                <a:latin typeface="Calibri"/>
              </a:rPr>
              <a:t>do </a:t>
            </a:r>
            <a:r>
              <a:rPr b="0">
                <a:solidFill>
                  <a:srgbClr val="333F48"/>
                </a:solidFill>
                <a:latin typeface="Calibri"/>
              </a:rPr>
              <a:t>buy, </a:t>
            </a:r>
            <a:br>
              <a:rPr lang="en-US" b="0">
                <a:solidFill>
                  <a:srgbClr val="333F48"/>
                </a:solidFill>
                <a:latin typeface="Calibri"/>
              </a:rPr>
            </a:br>
            <a:r>
              <a:rPr lang="en-US" b="0">
                <a:solidFill>
                  <a:srgbClr val="333F48"/>
                </a:solidFill>
                <a:latin typeface="Calibri"/>
              </a:rPr>
              <a:t>     </a:t>
            </a:r>
            <a:r>
              <a:rPr b="0">
                <a:solidFill>
                  <a:srgbClr val="333F48"/>
                </a:solidFill>
                <a:latin typeface="Calibri"/>
              </a:rPr>
              <a:t>manual and service workers </a:t>
            </a:r>
            <a:r>
              <a:rPr lang="en-US">
                <a:solidFill>
                  <a:srgbClr val="333F48"/>
                </a:solidFill>
                <a:latin typeface="Calibri"/>
              </a:rPr>
              <a:t>less so</a:t>
            </a:r>
            <a:endParaRPr b="0">
              <a:solidFill>
                <a:srgbClr val="333F48"/>
              </a:solidFill>
              <a:latin typeface="Calibri"/>
            </a:endParaRPr>
          </a:p>
        </p:txBody>
      </p:sp>
      <p:pic>
        <p:nvPicPr>
          <p:cNvPr id="6" name="Picture 5" descr="01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385" y="17794"/>
            <a:ext cx="7650616" cy="3835436"/>
          </a:xfrm>
          <a:prstGeom prst="rect">
            <a:avLst/>
          </a:prstGeom>
        </p:spPr>
      </p:pic>
      <p:pic>
        <p:nvPicPr>
          <p:cNvPr id="5" name="Picture 4" descr="01_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25" y="3677113"/>
            <a:ext cx="7623227" cy="2512647"/>
          </a:xfrm>
          <a:prstGeom prst="rect">
            <a:avLst/>
          </a:prstGeom>
        </p:spPr>
      </p:pic>
      <p:pic>
        <p:nvPicPr>
          <p:cNvPr id="7" name="Picture 6" descr="01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104" y="4398992"/>
            <a:ext cx="5550027" cy="24412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>
                <a:solidFill>
                  <a:srgbClr val="103A5C"/>
                </a:solidFill>
                <a:latin typeface="Calibri"/>
              </a:rPr>
              <a:t>Contact fatigue, and</a:t>
            </a:r>
            <a:r>
              <a:rPr sz="3000" b="1">
                <a:solidFill>
                  <a:srgbClr val="103A5C"/>
                </a:solidFill>
                <a:latin typeface="Calibri"/>
              </a:rPr>
              <a:t> when to stop calling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828800" cy="50292"/>
          </a:xfrm>
          <a:prstGeom prst="rect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642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13% buy on the first call, 3% after ten, with no exceptions in the trend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there is a point where another attempt costs more than it returns</a:t>
            </a:r>
          </a:p>
        </p:txBody>
      </p:sp>
      <p:pic>
        <p:nvPicPr>
          <p:cNvPr id="5" name="Picture 4" descr="01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04" y="1956816"/>
            <a:ext cx="10058400" cy="44372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369" y="310896"/>
            <a:ext cx="116311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3A5C"/>
                </a:solidFill>
                <a:latin typeface="Calibri"/>
              </a:rPr>
              <a:t>but the biggest driver</a:t>
            </a:r>
            <a:r>
              <a:rPr lang="en-US" sz="3000" b="1">
                <a:solidFill>
                  <a:srgbClr val="103A5C"/>
                </a:solidFill>
                <a:latin typeface="Calibri"/>
              </a:rPr>
              <a:t>s are economic (and not</a:t>
            </a:r>
            <a:r>
              <a:rPr sz="3000" b="1">
                <a:solidFill>
                  <a:srgbClr val="103A5C"/>
                </a:solidFill>
                <a:latin typeface="Calibri"/>
              </a:rPr>
              <a:t> the customer </a:t>
            </a:r>
            <a:r>
              <a:rPr lang="en-US" sz="3000" b="1">
                <a:solidFill>
                  <a:srgbClr val="103A5C"/>
                </a:solidFill>
                <a:latin typeface="Calibri"/>
              </a:rPr>
              <a:t>segment)</a:t>
            </a:r>
            <a:endParaRPr sz="3000" b="1">
              <a:solidFill>
                <a:srgbClr val="103A5C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828800" cy="50292"/>
          </a:xfrm>
          <a:prstGeom prst="rect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33856"/>
            <a:ext cx="11064240" cy="69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333F48"/>
                </a:solidFill>
                <a:latin typeface="Calibri"/>
              </a:rPr>
              <a:t>— customers buy 10x more readily when interest rates are low (column i4</a:t>
            </a:r>
            <a:r>
              <a:rPr lang="en-US">
                <a:solidFill>
                  <a:srgbClr val="333F48"/>
                </a:solidFill>
                <a:latin typeface="Calibri"/>
              </a:rPr>
              <a:t> aka </a:t>
            </a:r>
            <a:r>
              <a:rPr b="0">
                <a:solidFill>
                  <a:srgbClr val="333F48"/>
                </a:solidFill>
                <a:latin typeface="Calibri"/>
              </a:rPr>
              <a:t>euribor_3m*)</a:t>
            </a:r>
          </a:p>
          <a:p>
            <a:pPr algn="l">
              <a:spcAft>
                <a:spcPts val="400"/>
              </a:spcAft>
            </a:pPr>
            <a:r>
              <a:rPr b="0">
                <a:solidFill>
                  <a:srgbClr val="333F48"/>
                </a:solidFill>
                <a:latin typeface="Calibri"/>
              </a:rPr>
              <a:t>— bigger than anything about the individual, </a:t>
            </a:r>
            <a:r>
              <a:rPr b="0" i="1">
                <a:solidFill>
                  <a:srgbClr val="333F48"/>
                </a:solidFill>
                <a:latin typeface="Calibri"/>
              </a:rPr>
              <a:t>so this pilot sizes the opportunity separately for </a:t>
            </a:r>
            <a:r>
              <a:rPr b="1" i="1">
                <a:solidFill>
                  <a:srgbClr val="333F48"/>
                </a:solidFill>
                <a:latin typeface="Calibri"/>
              </a:rPr>
              <a:t>good</a:t>
            </a:r>
            <a:r>
              <a:rPr b="0" i="1">
                <a:solidFill>
                  <a:srgbClr val="333F48"/>
                </a:solidFill>
                <a:latin typeface="Calibri"/>
              </a:rPr>
              <a:t> and </a:t>
            </a:r>
            <a:r>
              <a:rPr b="1" i="1">
                <a:solidFill>
                  <a:srgbClr val="333F48"/>
                </a:solidFill>
                <a:latin typeface="Calibri"/>
              </a:rPr>
              <a:t>hard</a:t>
            </a:r>
            <a:r>
              <a:rPr b="0" i="1">
                <a:solidFill>
                  <a:srgbClr val="333F48"/>
                </a:solidFill>
                <a:latin typeface="Calibri"/>
              </a:rPr>
              <a:t> markets</a:t>
            </a:r>
          </a:p>
        </p:txBody>
      </p:sp>
      <p:pic>
        <p:nvPicPr>
          <p:cNvPr id="5" name="Picture 4" descr="01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3" y="2134616"/>
            <a:ext cx="11443001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682" y="310896"/>
            <a:ext cx="63876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3A5C"/>
                </a:solidFill>
                <a:latin typeface="Calibri"/>
              </a:rPr>
              <a:t>does the </a:t>
            </a:r>
            <a:r>
              <a:rPr lang="en-US" sz="3000" b="1">
                <a:solidFill>
                  <a:srgbClr val="103A5C"/>
                </a:solidFill>
                <a:latin typeface="Calibri"/>
              </a:rPr>
              <a:t>ML </a:t>
            </a:r>
            <a:r>
              <a:rPr sz="3000" b="1">
                <a:solidFill>
                  <a:srgbClr val="103A5C"/>
                </a:solidFill>
                <a:latin typeface="Calibri"/>
              </a:rPr>
              <a:t>model </a:t>
            </a:r>
            <a:r>
              <a:rPr lang="en-US" sz="3000" b="1">
                <a:solidFill>
                  <a:srgbClr val="103A5C"/>
                </a:solidFill>
                <a:latin typeface="Calibri"/>
              </a:rPr>
              <a:t>agree with</a:t>
            </a:r>
            <a:r>
              <a:rPr sz="3000" b="1">
                <a:solidFill>
                  <a:srgbClr val="103A5C"/>
                </a:solidFill>
                <a:latin typeface="Calibri"/>
              </a:rPr>
              <a:t> reality?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828800" cy="50292"/>
          </a:xfrm>
          <a:prstGeom prst="rect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530" y="3805615"/>
            <a:ext cx="6967470" cy="3091022"/>
          </a:xfrm>
          <a:prstGeom prst="rect">
            <a:avLst/>
          </a:prstGeom>
        </p:spPr>
      </p:pic>
      <p:pic>
        <p:nvPicPr>
          <p:cNvPr id="6" name="Picture 5" descr="02_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80" y="1122384"/>
            <a:ext cx="6097969" cy="2985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60404" y="823582"/>
            <a:ext cx="539779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we trained two different kinds of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 ML</a:t>
            </a:r>
            <a:r>
              <a:rPr sz="1600" b="0">
                <a:solidFill>
                  <a:srgbClr val="333F48"/>
                </a:solidFill>
                <a:latin typeface="Calibri"/>
              </a:rPr>
              <a:t> model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s</a:t>
            </a:r>
            <a:r>
              <a:rPr sz="1600" b="0">
                <a:solidFill>
                  <a:srgbClr val="333F48"/>
                </a:solidFill>
                <a:latin typeface="Calibri"/>
              </a:rPr>
              <a:t> 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r>
              <a:rPr lang="en-US" sz="1600" b="0">
                <a:solidFill>
                  <a:srgbClr val="333F48"/>
                </a:solidFill>
                <a:latin typeface="Calibri"/>
              </a:rPr>
              <a:t>     </a:t>
            </a:r>
            <a:r>
              <a:rPr sz="1600" b="0">
                <a:solidFill>
                  <a:srgbClr val="333F48"/>
                </a:solidFill>
                <a:latin typeface="Calibri"/>
              </a:rPr>
              <a:t>and got equivalent results;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 </a:t>
            </a:r>
          </a:p>
          <a:p>
            <a:pPr>
              <a:spcAft>
                <a:spcPts val="400"/>
              </a:spcAft>
            </a:pPr>
            <a:r>
              <a:rPr lang="en-US" sz="1600">
                <a:solidFill>
                  <a:srgbClr val="333F48"/>
                </a:solidFill>
              </a:rPr>
              <a:t>— predictions for </a:t>
            </a:r>
            <a:r>
              <a:rPr sz="1600" b="0">
                <a:solidFill>
                  <a:srgbClr val="333F48"/>
                </a:solidFill>
                <a:latin typeface="Calibri"/>
              </a:rPr>
              <a:t>gradient-boosted trees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 are shown here</a:t>
            </a:r>
            <a:endParaRPr sz="1600" b="0">
              <a:solidFill>
                <a:srgbClr val="333F4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model metric </a:t>
            </a:r>
            <a:r>
              <a:rPr sz="1600" b="0">
                <a:solidFill>
                  <a:srgbClr val="333F48"/>
                </a:solidFill>
                <a:latin typeface="Calibri"/>
              </a:rPr>
              <a:t>roc_auc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=</a:t>
            </a:r>
            <a:r>
              <a:rPr sz="1600" b="0">
                <a:solidFill>
                  <a:srgbClr val="333F48"/>
                </a:solidFill>
                <a:latin typeface="Calibri"/>
              </a:rPr>
              <a:t>0.81 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r>
              <a:rPr lang="en-US" sz="1600" b="0">
                <a:solidFill>
                  <a:srgbClr val="333F48"/>
                </a:solidFill>
                <a:latin typeface="Calibri"/>
              </a:rPr>
              <a:t>     </a:t>
            </a:r>
            <a:r>
              <a:rPr sz="1600" b="0">
                <a:solidFill>
                  <a:srgbClr val="333F48"/>
                </a:solidFill>
                <a:latin typeface="Calibri"/>
              </a:rPr>
              <a:t>on customers it had never seen,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 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r>
              <a:rPr lang="en-US" sz="1600" b="0">
                <a:solidFill>
                  <a:srgbClr val="333F48"/>
                </a:solidFill>
                <a:latin typeface="Calibri"/>
              </a:rPr>
              <a:t>    (</a:t>
            </a:r>
            <a:r>
              <a:rPr sz="1600" b="0">
                <a:solidFill>
                  <a:srgbClr val="333F48"/>
                </a:solidFill>
                <a:latin typeface="Calibri"/>
              </a:rPr>
              <a:t>0.5 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means model is guessing</a:t>
            </a:r>
            <a:r>
              <a:rPr sz="1600" b="0">
                <a:solidFill>
                  <a:srgbClr val="333F48"/>
                </a:solidFill>
                <a:latin typeface="Calibri"/>
              </a:rPr>
              <a:t> 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while </a:t>
            </a:r>
            <a:r>
              <a:rPr sz="1600" b="0">
                <a:solidFill>
                  <a:srgbClr val="333F48"/>
                </a:solidFill>
                <a:latin typeface="Calibri"/>
              </a:rPr>
              <a:t>1.0 is perfect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)</a:t>
            </a:r>
            <a:endParaRPr sz="1600" b="0">
              <a:solidFill>
                <a:srgbClr val="333F48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blue </a:t>
            </a:r>
            <a:r>
              <a:rPr sz="1600" b="0">
                <a:solidFill>
                  <a:srgbClr val="333F48"/>
                </a:solidFill>
                <a:latin typeface="Calibri"/>
              </a:rPr>
              <a:t>bars 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indicate</a:t>
            </a:r>
            <a:r>
              <a:rPr sz="1600" b="0">
                <a:solidFill>
                  <a:srgbClr val="333F48"/>
                </a:solidFill>
                <a:latin typeface="Calibri"/>
              </a:rPr>
              <a:t> what happened, 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r>
              <a:rPr lang="en-US" sz="1600" b="0">
                <a:solidFill>
                  <a:srgbClr val="333F48"/>
                </a:solidFill>
                <a:latin typeface="Calibri"/>
              </a:rPr>
              <a:t>     </a:t>
            </a:r>
            <a:r>
              <a:rPr sz="1600" b="0">
                <a:solidFill>
                  <a:srgbClr val="333F48"/>
                </a:solidFill>
                <a:latin typeface="Calibri"/>
              </a:rPr>
              <a:t>dots are what the model predicted</a:t>
            </a:r>
            <a:br>
              <a:rPr lang="en-US" sz="1600">
                <a:solidFill>
                  <a:srgbClr val="333F48"/>
                </a:solidFill>
              </a:rPr>
            </a:br>
            <a:r>
              <a:rPr lang="en-US" sz="1600">
                <a:solidFill>
                  <a:srgbClr val="333F48"/>
                </a:solidFill>
              </a:rPr>
              <a:t>— the ML</a:t>
            </a:r>
            <a:r>
              <a:rPr sz="1600" b="0">
                <a:solidFill>
                  <a:srgbClr val="333F48"/>
                </a:solidFill>
                <a:latin typeface="Calibri"/>
              </a:rPr>
              <a:t> 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model </a:t>
            </a:r>
            <a:r>
              <a:rPr sz="1600" b="0">
                <a:solidFill>
                  <a:srgbClr val="333F48"/>
                </a:solidFill>
                <a:latin typeface="Calibri"/>
              </a:rPr>
              <a:t>tracks every kind of customer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 well</a:t>
            </a:r>
            <a:endParaRPr sz="1600" b="0">
              <a:solidFill>
                <a:srgbClr val="333F4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82106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3A5C"/>
                </a:solidFill>
                <a:latin typeface="Calibri"/>
              </a:rPr>
              <a:t>how </a:t>
            </a:r>
            <a:r>
              <a:rPr lang="en-US" sz="3000" b="1">
                <a:solidFill>
                  <a:srgbClr val="103A5C"/>
                </a:solidFill>
                <a:latin typeface="Calibri"/>
              </a:rPr>
              <a:t>to</a:t>
            </a:r>
            <a:r>
              <a:rPr sz="3000" b="1">
                <a:solidFill>
                  <a:srgbClr val="103A5C"/>
                </a:solidFill>
                <a:latin typeface="Calibri"/>
              </a:rPr>
              <a:t> turn a</a:t>
            </a:r>
            <a:r>
              <a:rPr lang="en-US" sz="3000" b="1">
                <a:solidFill>
                  <a:srgbClr val="103A5C"/>
                </a:solidFill>
                <a:latin typeface="Calibri"/>
              </a:rPr>
              <a:t>n ML</a:t>
            </a:r>
            <a:r>
              <a:rPr sz="3000" b="1">
                <a:solidFill>
                  <a:srgbClr val="103A5C"/>
                </a:solidFill>
                <a:latin typeface="Calibri"/>
              </a:rPr>
              <a:t> score into a decision</a:t>
            </a:r>
            <a:r>
              <a:rPr lang="en-US" sz="3000" b="1">
                <a:solidFill>
                  <a:srgbClr val="103A5C"/>
                </a:solidFill>
                <a:latin typeface="Calibri"/>
              </a:rPr>
              <a:t> that grows revenue</a:t>
            </a:r>
            <a:endParaRPr sz="3000" b="1">
              <a:solidFill>
                <a:srgbClr val="103A5C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801837"/>
            <a:ext cx="1828800" cy="50292"/>
          </a:xfrm>
          <a:prstGeom prst="rect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3896" y="878337"/>
            <a:ext cx="1143618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as an enterprise firm, suppose your prospect list </a:t>
            </a:r>
            <a:r>
              <a:rPr lang="en-US" sz="1600">
                <a:solidFill>
                  <a:srgbClr val="333F48"/>
                </a:solidFill>
                <a:latin typeface="Calibri"/>
              </a:rPr>
              <a:t>has</a:t>
            </a:r>
            <a:r>
              <a:rPr sz="1600" b="0">
                <a:solidFill>
                  <a:srgbClr val="333F48"/>
                </a:solidFill>
                <a:latin typeface="Calibri"/>
              </a:rPr>
              <a:t> 2M potential customers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the 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ML </a:t>
            </a:r>
            <a:r>
              <a:rPr sz="1600" b="0">
                <a:solidFill>
                  <a:srgbClr val="333F48"/>
                </a:solidFill>
                <a:latin typeface="Calibri"/>
              </a:rPr>
              <a:t>model scores every </a:t>
            </a:r>
            <a:r>
              <a:rPr lang="en-US" sz="1600">
                <a:solidFill>
                  <a:srgbClr val="333F48"/>
                </a:solidFill>
                <a:latin typeface="Calibri"/>
              </a:rPr>
              <a:t>customer</a:t>
            </a:r>
            <a:r>
              <a:rPr sz="1600" b="0">
                <a:solidFill>
                  <a:srgbClr val="333F48"/>
                </a:solidFill>
                <a:latin typeface="Calibri"/>
              </a:rPr>
              <a:t> from 0 to 1, and </a:t>
            </a:r>
            <a:r>
              <a:rPr lang="en-US" sz="1600">
                <a:solidFill>
                  <a:srgbClr val="333F48"/>
                </a:solidFill>
                <a:latin typeface="Calibri"/>
              </a:rPr>
              <a:t>you</a:t>
            </a:r>
            <a:r>
              <a:rPr sz="1600" b="0">
                <a:solidFill>
                  <a:srgbClr val="333F48"/>
                </a:solidFill>
                <a:latin typeface="Calibri"/>
              </a:rPr>
              <a:t> work down t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hat</a:t>
            </a:r>
            <a:r>
              <a:rPr sz="1600" b="0">
                <a:solidFill>
                  <a:srgbClr val="333F48"/>
                </a:solidFill>
                <a:latin typeface="Calibri"/>
              </a:rPr>
              <a:t> 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list, beginning with the</a:t>
            </a:r>
            <a:r>
              <a:rPr sz="1600" b="0">
                <a:solidFill>
                  <a:srgbClr val="333F48"/>
                </a:solidFill>
                <a:latin typeface="Calibri"/>
              </a:rPr>
              <a:t> best </a:t>
            </a:r>
            <a:r>
              <a:rPr lang="en-US" sz="1600">
                <a:solidFill>
                  <a:srgbClr val="333F48"/>
                </a:solidFill>
                <a:latin typeface="Calibri"/>
              </a:rPr>
              <a:t>prospects</a:t>
            </a:r>
            <a:endParaRPr sz="1600" b="0">
              <a:solidFill>
                <a:srgbClr val="333F4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assumptions: $3 a contact, $80 margin 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on </a:t>
            </a:r>
            <a:r>
              <a:rPr sz="1600" b="0">
                <a:solidFill>
                  <a:srgbClr val="333F48"/>
                </a:solidFill>
                <a:latin typeface="Calibri"/>
              </a:rPr>
              <a:t>a sale,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 suppose your budget=</a:t>
            </a:r>
            <a:r>
              <a:rPr sz="1600" b="0">
                <a:solidFill>
                  <a:srgbClr val="333F48"/>
                </a:solidFill>
                <a:latin typeface="Calibri"/>
              </a:rPr>
              <a:t>$1.2M </a:t>
            </a:r>
            <a:r>
              <a:rPr lang="en-US" sz="1600">
                <a:solidFill>
                  <a:srgbClr val="333F48"/>
                </a:solidFill>
                <a:latin typeface="Calibri"/>
              </a:rPr>
              <a:t>=&gt;</a:t>
            </a:r>
            <a:r>
              <a:rPr sz="1600" b="0">
                <a:solidFill>
                  <a:srgbClr val="333F48"/>
                </a:solidFill>
                <a:latin typeface="Calibri"/>
              </a:rPr>
              <a:t> 400,000 contacts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these figures assume a </a:t>
            </a:r>
            <a:r>
              <a:rPr sz="1600" b="1" i="1">
                <a:solidFill>
                  <a:srgbClr val="333F48"/>
                </a:solidFill>
                <a:latin typeface="Calibri"/>
              </a:rPr>
              <a:t>good market</a:t>
            </a:r>
            <a:r>
              <a:rPr sz="1600" b="0">
                <a:solidFill>
                  <a:srgbClr val="333F48"/>
                </a:solidFill>
                <a:latin typeface="Calibri"/>
              </a:rPr>
              <a:t>, ie euribor below 2%</a:t>
            </a:r>
          </a:p>
        </p:txBody>
      </p:sp>
      <p:pic>
        <p:nvPicPr>
          <p:cNvPr id="5" name="Picture 4" descr="03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709" y="2043745"/>
            <a:ext cx="9484291" cy="48271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FE8C9D-1EE2-0F36-5726-E3F81CA6C024}"/>
              </a:ext>
            </a:extLst>
          </p:cNvPr>
          <p:cNvSpPr txBox="1"/>
          <p:nvPr/>
        </p:nvSpPr>
        <p:spPr>
          <a:xfrm>
            <a:off x="451017" y="2044313"/>
            <a:ext cx="2949004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</a:t>
            </a:r>
            <a:r>
              <a:rPr lang="en-US" sz="1600">
                <a:solidFill>
                  <a:srgbClr val="333F48"/>
                </a:solidFill>
                <a:latin typeface="Calibri"/>
              </a:rPr>
              <a:t>use ML to reach out to</a:t>
            </a:r>
            <a:r>
              <a:rPr sz="1600" b="0">
                <a:solidFill>
                  <a:srgbClr val="333F48"/>
                </a:solidFill>
                <a:latin typeface="Calibri"/>
              </a:rPr>
              <a:t> 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r>
              <a:rPr lang="en-US" sz="1600" b="0">
                <a:solidFill>
                  <a:srgbClr val="333F48"/>
                </a:solidFill>
                <a:latin typeface="Calibri"/>
              </a:rPr>
              <a:t>     </a:t>
            </a:r>
            <a:r>
              <a:rPr sz="1600" b="0">
                <a:solidFill>
                  <a:srgbClr val="333F48"/>
                </a:solidFill>
                <a:latin typeface="Calibri"/>
              </a:rPr>
              <a:t>the </a:t>
            </a:r>
            <a:r>
              <a:rPr sz="1600" b="1" i="1">
                <a:solidFill>
                  <a:srgbClr val="333F48"/>
                </a:solidFill>
                <a:latin typeface="Calibri"/>
              </a:rPr>
              <a:t>best</a:t>
            </a:r>
            <a:r>
              <a:rPr sz="1600" b="0">
                <a:solidFill>
                  <a:srgbClr val="333F48"/>
                </a:solidFill>
                <a:latin typeface="Calibri"/>
              </a:rPr>
              <a:t> 20% </a:t>
            </a:r>
            <a:r>
              <a:rPr lang="en-US" sz="1600">
                <a:solidFill>
                  <a:srgbClr val="333F48"/>
                </a:solidFill>
              </a:rPr>
              <a:t> (400K) </a:t>
            </a:r>
            <a:br>
              <a:rPr lang="en-US" sz="1600">
                <a:solidFill>
                  <a:srgbClr val="333F48"/>
                </a:solidFill>
              </a:rPr>
            </a:br>
            <a:r>
              <a:rPr lang="en-US" sz="1600">
                <a:solidFill>
                  <a:srgbClr val="333F48"/>
                </a:solidFill>
              </a:rPr>
              <a:t>     of all contacts </a:t>
            </a:r>
          </a:p>
          <a:p>
            <a:pPr>
              <a:spcAft>
                <a:spcPts val="400"/>
              </a:spcAft>
            </a:pPr>
            <a:r>
              <a:rPr lang="en-US" sz="1600">
                <a:solidFill>
                  <a:srgbClr val="333F48"/>
                </a:solidFill>
              </a:rPr>
              <a:t>— 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which </a:t>
            </a:r>
            <a:r>
              <a:rPr lang="en-US" sz="1600">
                <a:solidFill>
                  <a:srgbClr val="333F48"/>
                </a:solidFill>
                <a:latin typeface="Calibri"/>
              </a:rPr>
              <a:t>are</a:t>
            </a:r>
            <a:r>
              <a:rPr sz="1600" b="0">
                <a:solidFill>
                  <a:srgbClr val="333F48"/>
                </a:solidFill>
                <a:latin typeface="Calibri"/>
              </a:rPr>
              <a:t> 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r>
              <a:rPr lang="en-US" sz="1600" b="0">
                <a:solidFill>
                  <a:srgbClr val="333F48"/>
                </a:solidFill>
                <a:latin typeface="Calibri"/>
              </a:rPr>
              <a:t>     50</a:t>
            </a:r>
            <a:r>
              <a:rPr sz="1600" b="0">
                <a:solidFill>
                  <a:srgbClr val="333F48"/>
                </a:solidFill>
                <a:latin typeface="Calibri"/>
              </a:rPr>
              <a:t>% of </a:t>
            </a:r>
            <a:r>
              <a:rPr lang="en-US" sz="1600" b="1">
                <a:solidFill>
                  <a:srgbClr val="333F48"/>
                </a:solidFill>
                <a:latin typeface="Calibri"/>
              </a:rPr>
              <a:t>ALL</a:t>
            </a:r>
            <a:r>
              <a:rPr lang="en-US" sz="1600">
                <a:solidFill>
                  <a:srgbClr val="333F48"/>
                </a:solidFill>
                <a:latin typeface="Calibri"/>
              </a:rPr>
              <a:t> </a:t>
            </a:r>
            <a:r>
              <a:rPr sz="1600" b="0">
                <a:solidFill>
                  <a:srgbClr val="333F48"/>
                </a:solidFill>
                <a:latin typeface="Calibri"/>
              </a:rPr>
              <a:t>buyers </a:t>
            </a:r>
            <a:endParaRPr lang="en-US" sz="1600">
              <a:solidFill>
                <a:srgbClr val="333F48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US" sz="1600">
                <a:solidFill>
                  <a:srgbClr val="333F48"/>
                </a:solidFill>
              </a:rPr>
              <a:t>— </a:t>
            </a:r>
            <a:r>
              <a:rPr lang="en-US" sz="1600">
                <a:solidFill>
                  <a:srgbClr val="333F48"/>
                </a:solidFill>
                <a:latin typeface="Calibri"/>
              </a:rPr>
              <a:t>vs</a:t>
            </a:r>
            <a:r>
              <a:rPr sz="1600" b="0">
                <a:solidFill>
                  <a:srgbClr val="333F48"/>
                </a:solidFill>
                <a:latin typeface="Calibri"/>
              </a:rPr>
              <a:t> 20% 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with no ML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r>
              <a:rPr lang="en-US" sz="1600" b="0">
                <a:solidFill>
                  <a:srgbClr val="333F48"/>
                </a:solidFill>
                <a:latin typeface="Calibri"/>
              </a:rPr>
              <a:t>      ie </a:t>
            </a:r>
            <a:r>
              <a:rPr sz="1600" b="0">
                <a:solidFill>
                  <a:srgbClr val="333F48"/>
                </a:solidFill>
                <a:latin typeface="Calibri"/>
              </a:rPr>
              <a:t>working the 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r>
              <a:rPr lang="en-US" sz="1600" b="0">
                <a:solidFill>
                  <a:srgbClr val="333F48"/>
                </a:solidFill>
                <a:latin typeface="Calibri"/>
              </a:rPr>
              <a:t>      prospect </a:t>
            </a:r>
            <a:r>
              <a:rPr sz="1600" b="0">
                <a:solidFill>
                  <a:srgbClr val="333F48"/>
                </a:solidFill>
                <a:latin typeface="Calibri"/>
              </a:rPr>
              <a:t>list 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r>
              <a:rPr lang="en-US" sz="1600" b="0">
                <a:solidFill>
                  <a:srgbClr val="333F48"/>
                </a:solidFill>
                <a:latin typeface="Calibri"/>
              </a:rPr>
              <a:t>      </a:t>
            </a:r>
            <a:r>
              <a:rPr sz="1600" b="0">
                <a:solidFill>
                  <a:srgbClr val="333F48"/>
                </a:solidFill>
                <a:latin typeface="Calibri"/>
              </a:rPr>
              <a:t>at random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,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r>
              <a:rPr lang="en-US" sz="1600" b="0">
                <a:solidFill>
                  <a:srgbClr val="333F48"/>
                </a:solidFill>
                <a:latin typeface="Calibri"/>
              </a:rPr>
              <a:t>     </a:t>
            </a:r>
            <a:endParaRPr sz="1600" b="0">
              <a:solidFill>
                <a:srgbClr val="333F4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3A5C"/>
                </a:solidFill>
                <a:latin typeface="Calibri"/>
              </a:rPr>
              <a:t>what </a:t>
            </a:r>
            <a:r>
              <a:rPr lang="en-US" sz="3000" b="1">
                <a:solidFill>
                  <a:srgbClr val="103A5C"/>
                </a:solidFill>
                <a:latin typeface="Calibri"/>
              </a:rPr>
              <a:t>ML</a:t>
            </a:r>
            <a:r>
              <a:rPr sz="3000" b="1">
                <a:solidFill>
                  <a:srgbClr val="103A5C"/>
                </a:solidFill>
                <a:latin typeface="Calibri"/>
              </a:rPr>
              <a:t> is worth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828800" cy="50292"/>
          </a:xfrm>
          <a:prstGeom prst="rect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3487" y="1133856"/>
            <a:ext cx="1157810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+137,000 sales, about $11M, on a 2M customer campaign in a good market: x2.4 revenue 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lift </a:t>
            </a:r>
            <a:r>
              <a:rPr sz="1600" b="0">
                <a:solidFill>
                  <a:srgbClr val="333F48"/>
                </a:solidFill>
                <a:latin typeface="Calibri"/>
              </a:rPr>
              <a:t>for the same spend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same budget, same number of calls, </a:t>
            </a:r>
            <a:r>
              <a:rPr lang="en-US" sz="1600" b="1">
                <a:solidFill>
                  <a:srgbClr val="333F48"/>
                </a:solidFill>
                <a:latin typeface="Calibri"/>
              </a:rPr>
              <a:t>ML</a:t>
            </a:r>
            <a:r>
              <a:rPr sz="1600" b="1">
                <a:solidFill>
                  <a:srgbClr val="333F48"/>
                </a:solidFill>
                <a:latin typeface="Calibri"/>
              </a:rPr>
              <a:t> aim</a:t>
            </a:r>
            <a:r>
              <a:rPr lang="en-US" sz="1600" b="1">
                <a:solidFill>
                  <a:srgbClr val="333F48"/>
                </a:solidFill>
                <a:latin typeface="Calibri"/>
              </a:rPr>
              <a:t>s your sales team at the</a:t>
            </a:r>
            <a:r>
              <a:rPr sz="1600" b="1">
                <a:solidFill>
                  <a:srgbClr val="333F48"/>
                </a:solidFill>
                <a:latin typeface="Calibri"/>
              </a:rPr>
              <a:t> better</a:t>
            </a:r>
            <a:r>
              <a:rPr lang="en-US" sz="1600" b="1">
                <a:solidFill>
                  <a:srgbClr val="333F48"/>
                </a:solidFill>
                <a:latin typeface="Calibri"/>
              </a:rPr>
              <a:t> prospects</a:t>
            </a:r>
            <a:endParaRPr sz="1600" b="1">
              <a:solidFill>
                <a:srgbClr val="333F48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$47 revenue per call with the model 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vs</a:t>
            </a:r>
            <a:r>
              <a:rPr sz="1600" b="0">
                <a:solidFill>
                  <a:srgbClr val="333F48"/>
                </a:solidFill>
                <a:latin typeface="Calibri"/>
              </a:rPr>
              <a:t> $19 without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in a </a:t>
            </a:r>
            <a:r>
              <a:rPr sz="1600" b="0" i="1">
                <a:solidFill>
                  <a:srgbClr val="333F48"/>
                </a:solidFill>
                <a:latin typeface="Calibri"/>
              </a:rPr>
              <a:t>hard market</a:t>
            </a:r>
            <a:r>
              <a:rPr sz="1600" b="0">
                <a:solidFill>
                  <a:srgbClr val="333F48"/>
                </a:solidFill>
                <a:latin typeface="Calibri"/>
              </a:rPr>
              <a:t> ML adds only $1M (versus $11M in good times), 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r>
              <a:rPr lang="en-US" sz="1600" b="0">
                <a:solidFill>
                  <a:srgbClr val="333F48"/>
                </a:solidFill>
                <a:latin typeface="Calibri"/>
              </a:rPr>
              <a:t>          </a:t>
            </a:r>
            <a:r>
              <a:rPr sz="1600" b="0">
                <a:solidFill>
                  <a:srgbClr val="333F48"/>
                </a:solidFill>
                <a:latin typeface="Calibri"/>
              </a:rPr>
              <a:t>x1.6 revenue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 lift</a:t>
            </a:r>
            <a:r>
              <a:rPr sz="1600" b="0">
                <a:solidFill>
                  <a:srgbClr val="333F48"/>
                </a:solidFill>
                <a:latin typeface="Calibri"/>
              </a:rPr>
              <a:t>, and the campaign still nets $1.4M against $0.4M without it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that x1.6 is what keeps the campaign above water in a downturn: without ML the contact cost eats nearly all the margin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endParaRPr lang="en-US" sz="1600" b="0">
              <a:solidFill>
                <a:srgbClr val="333F48"/>
              </a:solidFill>
              <a:latin typeface="Calibri"/>
            </a:endParaRPr>
          </a:p>
        </p:txBody>
      </p:sp>
      <p:pic>
        <p:nvPicPr>
          <p:cNvPr id="5" name="Picture 4" descr="03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310" y="2871216"/>
            <a:ext cx="8019380" cy="3877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>
                <a:solidFill>
                  <a:srgbClr val="103A5C"/>
                </a:solidFill>
                <a:latin typeface="Calibri"/>
              </a:rPr>
              <a:t>recommended</a:t>
            </a:r>
            <a:r>
              <a:rPr sz="3000" b="1">
                <a:solidFill>
                  <a:srgbClr val="103A5C"/>
                </a:solidFill>
                <a:latin typeface="Calibri"/>
              </a:rPr>
              <a:t> next</a:t>
            </a:r>
            <a:r>
              <a:rPr lang="en-US" sz="3000" b="1">
                <a:solidFill>
                  <a:srgbClr val="103A5C"/>
                </a:solidFill>
                <a:latin typeface="Calibri"/>
              </a:rPr>
              <a:t> steps</a:t>
            </a:r>
            <a:endParaRPr sz="3000" b="1">
              <a:solidFill>
                <a:srgbClr val="103A5C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828800" cy="50292"/>
          </a:xfrm>
          <a:prstGeom prst="rect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88136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stand the model up next to your database and feed scored prospects to the sales team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F48"/>
                </a:solidFill>
                <a:latin typeface="Calibri"/>
              </a:rPr>
              <a:t>— timestamp the records and log which rep made which call, 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r>
              <a:rPr lang="en-US" sz="1600" b="0">
                <a:solidFill>
                  <a:srgbClr val="333F48"/>
                </a:solidFill>
                <a:latin typeface="Calibri"/>
              </a:rPr>
              <a:t>         </a:t>
            </a:r>
            <a:r>
              <a:rPr sz="1600" b="0">
                <a:solidFill>
                  <a:srgbClr val="333F48"/>
                </a:solidFill>
                <a:latin typeface="Calibri"/>
              </a:rPr>
              <a:t>so we can </a:t>
            </a:r>
            <a:r>
              <a:rPr lang="en-US" sz="1600">
                <a:solidFill>
                  <a:srgbClr val="333F48"/>
                </a:solidFill>
                <a:latin typeface="Calibri"/>
              </a:rPr>
              <a:t>distinguish</a:t>
            </a:r>
            <a:r>
              <a:rPr sz="1600" b="0">
                <a:solidFill>
                  <a:srgbClr val="333F48"/>
                </a:solidFill>
                <a:latin typeface="Calibri"/>
              </a:rPr>
              <a:t> seasonal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 business cycles</a:t>
            </a:r>
            <a:r>
              <a:rPr sz="1600" b="0">
                <a:solidFill>
                  <a:srgbClr val="333F48"/>
                </a:solidFill>
                <a:latin typeface="Calibri"/>
              </a:rPr>
              <a:t> from econom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ic drivers</a:t>
            </a:r>
            <a:r>
              <a:rPr sz="1600" b="0">
                <a:solidFill>
                  <a:srgbClr val="333F48"/>
                </a:solidFill>
                <a:latin typeface="Calibri"/>
              </a:rPr>
              <a:t> </a:t>
            </a:r>
            <a:br>
              <a:rPr lang="en-US" sz="1600" b="0">
                <a:solidFill>
                  <a:srgbClr val="333F48"/>
                </a:solidFill>
                <a:latin typeface="Calibri"/>
              </a:rPr>
            </a:br>
            <a:r>
              <a:rPr lang="en-US" sz="1600" b="0">
                <a:solidFill>
                  <a:srgbClr val="333F48"/>
                </a:solidFill>
                <a:latin typeface="Calibri"/>
              </a:rPr>
              <a:t>              </a:t>
            </a:r>
            <a:r>
              <a:rPr sz="1600" b="0">
                <a:solidFill>
                  <a:srgbClr val="333F48"/>
                </a:solidFill>
                <a:latin typeface="Calibri"/>
              </a:rPr>
              <a:t>and </a:t>
            </a:r>
            <a:r>
              <a:rPr lang="en-US" sz="1600">
                <a:solidFill>
                  <a:srgbClr val="333F48"/>
                </a:solidFill>
                <a:latin typeface="Calibri"/>
              </a:rPr>
              <a:t>investigate</a:t>
            </a:r>
            <a:r>
              <a:rPr sz="1600" b="0">
                <a:solidFill>
                  <a:srgbClr val="333F48"/>
                </a:solidFill>
                <a:latin typeface="Calibri"/>
              </a:rPr>
              <a:t> wh</a:t>
            </a:r>
            <a:r>
              <a:rPr lang="en-US" sz="1600" b="0">
                <a:solidFill>
                  <a:srgbClr val="333F48"/>
                </a:solidFill>
                <a:latin typeface="Calibri"/>
              </a:rPr>
              <a:t>ich sales person</a:t>
            </a:r>
            <a:r>
              <a:rPr sz="1600" b="0">
                <a:solidFill>
                  <a:srgbClr val="333F48"/>
                </a:solidFill>
                <a:latin typeface="Calibri"/>
              </a:rPr>
              <a:t> should handle which prospect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24612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103A5C"/>
                </a:solidFill>
                <a:latin typeface="Calibri"/>
              </a:rPr>
              <a:t>your customer</a:t>
            </a:r>
          </a:p>
          <a:p>
            <a:pPr algn="ctr"/>
            <a:r>
              <a:rPr sz="1300">
                <a:solidFill>
                  <a:srgbClr val="103A5C"/>
                </a:solidFill>
                <a:latin typeface="Calibri"/>
              </a:rPr>
              <a:t>database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3648456"/>
            <a:ext cx="685800" cy="256032"/>
          </a:xfrm>
          <a:prstGeom prst="rightArrow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23360" y="3246120"/>
            <a:ext cx="2377440" cy="1051560"/>
          </a:xfrm>
          <a:prstGeom prst="roundRect">
            <a:avLst/>
          </a:prstGeom>
          <a:solidFill>
            <a:srgbClr val="1BA0DC"/>
          </a:solidFill>
          <a:ln w="12700">
            <a:solidFill>
              <a:srgbClr val="10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scoring VM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model + retraining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583680" y="3648456"/>
            <a:ext cx="685800" cy="256032"/>
          </a:xfrm>
          <a:prstGeom prst="rightArrow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52360" y="3246120"/>
            <a:ext cx="2194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103A5C"/>
                </a:solidFill>
                <a:latin typeface="Calibri"/>
              </a:rPr>
              <a:t>dashboard</a:t>
            </a:r>
          </a:p>
          <a:p>
            <a:pPr algn="ctr"/>
            <a:r>
              <a:rPr sz="1300">
                <a:solidFill>
                  <a:srgbClr val="103A5C"/>
                </a:solidFill>
                <a:latin typeface="Calibri"/>
              </a:rPr>
              <a:t>ranked prospects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829800" y="3648456"/>
            <a:ext cx="685800" cy="256032"/>
          </a:xfrm>
          <a:prstGeom prst="rightArrow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698480" y="3246120"/>
            <a:ext cx="1234440" cy="1051560"/>
          </a:xfrm>
          <a:prstGeom prst="roundRect">
            <a:avLst/>
          </a:prstGeom>
          <a:solidFill>
            <a:srgbClr val="103A5C"/>
          </a:solidFill>
          <a:ln w="12700">
            <a:solidFill>
              <a:srgbClr val="10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sales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805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333F48"/>
                </a:solidFill>
                <a:latin typeface="Calibri"/>
              </a:rPr>
              <a:t>call outcomes flow back to the database, and the model is retrained each quarter so it keeps up with the market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651760"/>
            <a:ext cx="1463040" cy="64008"/>
          </a:xfrm>
          <a:prstGeom prst="rect">
            <a:avLst/>
          </a:prstGeom>
          <a:solidFill>
            <a:srgbClr val="1B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D8E7F1"/>
                </a:solidFill>
                <a:latin typeface="Calibri"/>
              </a:rPr>
              <a:t>Joe Hahn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D8E7F1"/>
                </a:solidFill>
                <a:latin typeface="Calibri"/>
              </a:rPr>
              <a:t>jmh.datasciences@gmail.com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876</Words>
  <Application>Microsoft Macintosh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jmh.datasciences@gmail.com</cp:lastModifiedBy>
  <cp:revision>42</cp:revision>
  <dcterms:created xsi:type="dcterms:W3CDTF">2013-01-27T09:14:16Z</dcterms:created>
  <dcterms:modified xsi:type="dcterms:W3CDTF">2026-08-07T03:53:17Z</dcterms:modified>
  <cp:category/>
</cp:coreProperties>
</file>